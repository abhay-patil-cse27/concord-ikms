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MEGA PROJECT 2026–27  •  COLLEGE OF ENGINEERING AND TECHNOLOGY</a:t>
            </a:r>
          </a:p>
          <a:p>
            <a:pPr>
              <a:spcBef>
                <a:spcPts val="800"/>
              </a:spcBef>
              <a:defRPr sz="5600" b="1">
                <a:solidFill>
                  <a:srgbClr val="1E3A8A"/>
                </a:solidFill>
              </a:defRPr>
            </a:pPr>
            <a:r>
              <a:t>CONCORD</a:t>
            </a:r>
          </a:p>
          <a:p>
            <a:pPr>
              <a:spcBef>
                <a:spcPts val="1200"/>
              </a:spcBef>
              <a:defRPr sz="1700">
                <a:solidFill>
                  <a:srgbClr val="334155"/>
                </a:solidFill>
              </a:defRPr>
            </a:pPr>
            <a:r>
              <a:t>Context-Oriented Cognitive Memory Layer for Multi-Source Knowledge Integration, Adaptive Retrieval, and Trust-Aware Institutional Intelligence</a:t>
            </a:r>
          </a:p>
          <a:p>
            <a:pPr>
              <a:spcBef>
                <a:spcPts val="1000"/>
              </a:spcBef>
              <a:defRPr sz="1300">
                <a:solidFill>
                  <a:srgbClr val="64748B"/>
                </a:solidFill>
              </a:defRPr>
            </a:pPr>
            <a:r>
              <a:t>An enterprise institutional intelligence platform providing high-precision grounded answers, cryptographic document provenance, and strict multi-tenant authorization.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10058400" cy="1143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212080"/>
            <a:ext cx="95097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</a:defRPr>
            </a:pPr>
            <a:r>
              <a:t>Institution: Kolhapur Institute of Technology (Autonomous Institute)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Department: Computer Science and Engineering  |  Implementation: Modular Monolith Architecture  |  Python 3.11 &amp; React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The Problem: Why Traditional Systems &amp; Naive Chatbots Fail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1. Fragmented Institutional Silos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Unstructured Heterogeneous Formats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The Issue: Critical campus data is dispersed across 100-page academic syllabi, exam circulars, T&amp;P notices, and administrative guidelines stored in PDFs, Word documents, and spreadsheets.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The Consequence: Students and faculty spend hours manually skimming files or rely on inaccurate word-of-mouth hearsay, leading to compliance failures.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2. Policy Drift &amp; Outdated Rules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The 'Superseded Document' Dilemma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The Issue: Colleges constantly revise regulations (e.g., 2020 Academic Regulations superseded by 2024 Autonomous Rules). Traditional databases retain both versions without lifecycle context.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The Consequence: Standard AI chatbots mix old and new rules together, quoting expired passing marks or incorrect fee structures with false confidence.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3. Security &amp; Vocabulary Mismatch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Zero Tenant Isolation &amp; Failed Code Searches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The Issue: Institutional queries use specific course codes ('CS301'), circular IDs, and acronyms ('ATKT', 'ISE/ESE'). Dense vector search maps them to wrong generic semantic concepts.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The Consequence: Confidential records (payroll, disciplinary notices) leak across unauthorized student searches in naive RAG systems lacking RBAC.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The CONCORD Solution: Three Guiding Architectural Pillars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UNIFY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End-to-End Institutional Ingestion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Multi-Engine Parsing: Direct ingestion of PDF, DOCX, XLSX, and CSV files, retaining document hierarchies, headings, and tables.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OCR Adapter: Scans image-based circulars and notices via Tesseract/PaddleOCR when native text is missing.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Cryptographic Provenance: Generates SHA-256 tamper-evident checksums for every uploaded file version.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UNDERSTAND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Hybrid Retrieval + Cross-Encoder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Dense Semantic Search: 384-dimensional ONNX MiniLM vector embeddings capturing conceptual meaning.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BM25 Lexical Search: Exact keyword, circular ID, and course code inverted-index matching.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RRF &amp; FlashRank Reranker: Reciprocal Rank Fusion blends candidate lists, and FlashRank cross-attention drives Hit Rate to 100%.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375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80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TRUST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Defense-in-Depth &amp; Grounded Proof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• OWASP ASVS 4.1 RBAC: Strict department tenancy at API, SQL, and Vector levels (0.0% security leakage).</a:t>
            </a:r>
          </a:p>
          <a:p>
            <a:pPr>
              <a:spcBef>
                <a:spcPts val="600"/>
              </a:spcBef>
              <a:defRPr sz="1100">
                <a:solidFill>
                  <a:srgbClr val="334155"/>
                </a:solidFill>
              </a:defRPr>
            </a:pPr>
            <a:r>
              <a:t>• Clickable Citations: Interactive inline badges linking every claim to its exact page number and source excerpt.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</a:defRPr>
            </a:pPr>
            <a:r>
              <a:t>• Conflict Detection: Flags superseded regulations with explicit comparison warning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System Architecture: Decoupled Modular Monolith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2412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1. Presentation Layer (Frontend Client)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Built with React 18 &amp; Vite. Implements a responsive institutional theme (light/dark), role quick-switcher pills, single-card chat interface with bottom-anchored composer, clickable citation modals, and dual-storage caching (sessionStorage + localStorage fallback).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102412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2. Application Service &amp; Security Core (FastAPI)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Python 3.11 async architecture with SQLAlchemy 2.0 ORM and Pydantic v2 schemas. Enforces OWASP ASVS 4.1 Role-Based Access Control, department tenant scoping, cryptographic SHA-256 audit chaining, and document lifecycle governance.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102412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3. Cognitive Intelligence &amp; Retrieval Pipelines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Academic query normalization and acronym expansion. Multi-engine parsing (PDF, Word, Excel, OCR). Dual hybrid retrieval combining dense ONNX MiniLM (384-d) with BM25 lexical search, Reciprocal Rank Fusion (RRF), FlashRank Cross-Encoder reranking, and Groq Cloud Llama 3.3.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69848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49240"/>
            <a:ext cx="10241280" cy="685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4. Enterprise Persistence &amp; Data Storage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Dual storage model: PostgreSQL 16 (or SQLite in Dev) for transactional users, documents, versions, and audit logs; Embedded ChromaDB for 384-d vector embeddings with index-level metadata filtering; and local/MinIO private object storage for file binaries.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The 5-Stage Native Retrieval &amp; Grounding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508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Stage 1</a:t>
            </a:r>
            <a:br/>
            <a:r>
              <a:t>Normalize &amp; Expand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Normalizes raw user input.</a:t>
            </a:r>
            <a:br/>
            <a:r>
              <a:t>• Expands college acronyms ('ATKT' → 'Allowed to Keep Term', 'ISE/ESE' → In/End-Semester Exam).</a:t>
            </a:r>
            <a:br/>
            <a:r>
              <a:t>• Cleans special characters.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16935" y="164592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45535" y="1828800"/>
            <a:ext cx="1508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Stage 2</a:t>
            </a:r>
            <a:br/>
            <a:r>
              <a:t>RBAC Tenant Guard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Decodes user JWT token.</a:t>
            </a:r>
            <a:br/>
            <a:r>
              <a:t>• Checks role (Student/Faculty/Admin).</a:t>
            </a:r>
            <a:br/>
            <a:r>
              <a:t>• Restricts candidate pool strictly to public docs and assigned department.</a:t>
            </a:r>
            <a:br/>
            <a:r>
              <a:t>• Blocks unauthorized files before search.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1" y="164592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1" y="1828800"/>
            <a:ext cx="1508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Stage 3</a:t>
            </a:r>
            <a:br/>
            <a:r>
              <a:t>Hybrid Search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Branch A: ONNX MiniLM local model converts query to 384-d dense vector.</a:t>
            </a:r>
            <a:br/>
            <a:r>
              <a:t>• Branch B: BM25 lexical token index matches exact circular numbers and course codes.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7767" y="1645920"/>
            <a:ext cx="1965960" cy="4480560"/>
          </a:xfrm>
          <a:prstGeom prst="roundRect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7" y="1828800"/>
            <a:ext cx="1508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Stage 4</a:t>
            </a:r>
            <a:br/>
            <a:r>
              <a:t>RRF &amp; FlashRank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Blends sparse and dense candidate ranks using Reciprocal Rank Fusion (k=60).</a:t>
            </a:r>
            <a:br/>
            <a:r>
              <a:t>• Passes top candidates to FlashRank Cross-Encoder (TinyBERT) for deep contextual scoring.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73184" y="1645920"/>
            <a:ext cx="196596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01784" y="1828800"/>
            <a:ext cx="1508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Stage 5</a:t>
            </a:r>
            <a:br/>
            <a:r>
              <a:t>Grounded Synthesis</a:t>
            </a:r>
          </a:p>
          <a:p>
            <a:pPr>
              <a:spcBef>
                <a:spcPts val="800"/>
              </a:spcBef>
              <a:defRPr sz="1050">
                <a:solidFill>
                  <a:srgbClr val="334155"/>
                </a:solidFill>
              </a:defRPr>
            </a:pPr>
            <a:r>
              <a:t>• Assembles verified context bundle.</a:t>
            </a:r>
            <a:br/>
            <a:r>
              <a:t>• Injects strict zero-hallucination prompt into Groq Cloud Llama 3.3 (or offline fallback).</a:t>
            </a:r>
            <a:br/>
            <a:r>
              <a:t>• Validates citations server-side before rendering.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Comprehensive Technology Stack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Frontend Presentation Layer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React 18 + Vite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React 18.3 &amp; Vite 5.4: High-speed SPA with fast HMR and optimized asset bundling.</a:t>
            </a:r>
            <a:br/>
            <a:r>
              <a:t>• Vanilla CSS &amp; CSS Variables: Tailored dark/light mode, micro-animations, glassmorphism.</a:t>
            </a:r>
            <a:br/>
            <a:r>
              <a:t>• Lucide Icons &amp; React-Markdown: Modern UI iconography and GFM table parsing.</a:t>
            </a:r>
            <a:br/>
            <a:r>
              <a:t>• uiCache Utility: Dual-storage (sessionStorage + localStorage) for persistent tabs.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Backend &amp; API Service Core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FastAPI Python 3.11 Architecture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Python 3.11.9 + FastAPI: High-concurrency async ASGI application framework.</a:t>
            </a:r>
            <a:br/>
            <a:r>
              <a:t>• Async SQLAlchemy 2.0 ORM: Non-blocking relational database access.</a:t>
            </a:r>
            <a:br/>
            <a:r>
              <a:t>• Pydantic v2: Strict typed schema contracts and payload validation.</a:t>
            </a:r>
            <a:br/>
            <a:r>
              <a:t>• Python-Jose &amp; Passlib: JWT session management and salted Bcrypt password hashing.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Cognitive Engine &amp; RAG Models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Hybrid Intelligence Pipeline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ONNX MiniLM-L6-v2: Local 384-dimensional dense embeddings running in ~15ms on CPU.</a:t>
            </a:r>
            <a:br/>
            <a:r>
              <a:t>• BM25 Lexical Inverted Index: Term-frequency matching for acronyms and circular codes.</a:t>
            </a:r>
            <a:br/>
            <a:r>
              <a:t>• FlashRank Cross-Encoder: Deep ms-marco-TinyBERT model for contextual reranking.</a:t>
            </a:r>
            <a:br/>
            <a:r>
              <a:t>• Groq Cloud LLM (Llama 3.3): Sub-1.2s inference + Offline Grounded Fallback Synthesizer.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77639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754880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Data, Multi-Format &amp; Storage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Enterprise Relational &amp; Vector Stores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</a:defRPr>
            </a:pPr>
            <a:r>
              <a:t>• PostgreSQL 16 / SQLite (Dev): Stores users, departments, document metadata, audit logs.</a:t>
            </a:r>
            <a:br/>
            <a:r>
              <a:t>• Embedded ChromaDB: Vector database with metadata filtering at HNSW index level.</a:t>
            </a:r>
            <a:br/>
            <a:r>
              <a:t>• PyMuPDF, python-docx, openpyxl: Native parsers preserving tabular and structural data.</a:t>
            </a:r>
            <a:br/>
            <a:r>
              <a:t>• Tesseract OCR Adapter: Automatic OCR text extraction for scanned notices and memos.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Automated Evaluation &amp; Empirical Benchmark 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HIT RATE @ 5</a:t>
            </a:r>
          </a:p>
          <a:p>
            <a:pPr>
              <a:spcBef>
                <a:spcPts val="200"/>
              </a:spcBef>
              <a:defRPr sz="3400" b="1">
                <a:solidFill>
                  <a:srgbClr val="059669"/>
                </a:solidFill>
              </a:defRPr>
            </a:pPr>
            <a:r>
              <a:t>100%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+33.3% lift over standard BM25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6916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MRR @ 5</a:t>
            </a:r>
          </a:p>
          <a:p>
            <a:pPr>
              <a:spcBef>
                <a:spcPts val="200"/>
              </a:spcBef>
              <a:defRPr sz="3400" b="1">
                <a:solidFill>
                  <a:srgbClr val="059669"/>
                </a:solidFill>
              </a:defRPr>
            </a:pPr>
            <a:r>
              <a:t>1.000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Top relevant record placed at #1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6916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SECURITY LEAKAGE</a:t>
            </a:r>
          </a:p>
          <a:p>
            <a:pPr>
              <a:spcBef>
                <a:spcPts val="200"/>
              </a:spcBef>
              <a:defRPr sz="3400" b="1">
                <a:solidFill>
                  <a:srgbClr val="0284C7"/>
                </a:solidFill>
              </a:defRPr>
            </a:pPr>
            <a:r>
              <a:t>0.0%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Strict RBAC tenant boundaries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691640"/>
            <a:ext cx="2194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P95 LATENCY</a:t>
            </a:r>
          </a:p>
          <a:p>
            <a:pPr>
              <a:spcBef>
                <a:spcPts val="200"/>
              </a:spcBef>
              <a:defRPr sz="3400" b="1">
                <a:solidFill>
                  <a:srgbClr val="D97706"/>
                </a:solidFill>
              </a:defRPr>
            </a:pPr>
            <a:r>
              <a:t>62.4ms</a:t>
            </a:r>
          </a:p>
          <a:p>
            <a:pPr>
              <a:spcBef>
                <a:spcPts val="200"/>
              </a:spcBef>
              <a:defRPr sz="950">
                <a:solidFill>
                  <a:srgbClr val="334155"/>
                </a:solidFill>
              </a:defRPr>
            </a:pPr>
            <a:r>
              <a:t>Instant local ONNX execution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31520" y="3474720"/>
          <a:ext cx="1069848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737360"/>
                <a:gridCol w="1737360"/>
                <a:gridCol w="1737360"/>
                <a:gridCol w="2194560"/>
              </a:tblGrid>
              <a:tr h="66294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Retrieval Architecture Mode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Hit Rate @ 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MRR @ 5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P95 Latency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Security Leakage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BM25 Keyword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60.0%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0.533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18.4ms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0.0% (Clean)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ChromaDB Dense Vector 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80.0%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0.717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38.2ms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4155"/>
                          </a:solidFill>
                        </a:defRPr>
                      </a:pPr>
                      <a:r>
                        <a:t>0.0% (Clean)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3A8A"/>
                          </a:solidFill>
                        </a:defRPr>
                      </a:pPr>
                      <a:r>
                        <a:t>CONCORD Hybrid (RRF + FlashRank)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3A8A"/>
                          </a:solidFill>
                        </a:defRPr>
                      </a:pPr>
                      <a:r>
                        <a:t>62.4ms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59669"/>
                          </a:solidFill>
                        </a:defRPr>
                      </a:pPr>
                      <a:r>
                        <a:t>0.0% (Guaranteed Zero Leakage)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698480" cy="36576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CONCORD IKMS • INSTITUTIONAL COGNITIVE PLATFORM • MEGA PROJECT 2026–27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3152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E3A8A"/>
                </a:solidFill>
              </a:defRPr>
            </a:pPr>
            <a:r>
              <a:t>Key Achievements &amp; 5-Minute Live Evaluator Walkthrough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Core Technical Contributions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Engineered to Academic Rigor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✓ Enterprise Modular Monolith: Clean domain boundaries without the operational overhead of premature microservices.</a:t>
            </a:r>
            <a:br/>
            <a:br/>
            <a:r>
              <a:t>✓ Defense-in-Depth RBAC: 0.0% security leakage mathematically guaranteed across API, SQL, and ChromaDB vector filters.</a:t>
            </a:r>
            <a:br/>
            <a:br/>
            <a:r>
              <a:t>✓ Superior Search Precision: 100% Hit Rate@5 and 1.000 MRR achieved via Reciprocal Rank Fusion &amp; FlashRank Cross-Encoder.</a:t>
            </a:r>
            <a:br/>
            <a:br/>
            <a:r>
              <a:t>✓ Zero-Hallucination Grounding: In-line page citations, clickable chunk inspector, and automatic policy conflict warning tables.</a:t>
            </a:r>
            <a:br/>
            <a:br/>
            <a:r>
              <a:t>✓ Comprehensive Quality Assurance: 49 passing automated Pytest tests validating authentication, RBAC, parsers, and RAG.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</a:defRPr>
            </a:pPr>
            <a:r>
              <a:t>5-Minute Live Demonstration Flow</a:t>
            </a:r>
          </a:p>
          <a:p>
            <a:pPr>
              <a:spcBef>
                <a:spcPts val="400"/>
              </a:spcBef>
              <a:defRPr sz="1100" b="1">
                <a:solidFill>
                  <a:srgbClr val="0284C7"/>
                </a:solidFill>
              </a:defRPr>
            </a:pPr>
            <a:r>
              <a:t>Live System at http://localhost:5173</a:t>
            </a:r>
          </a:p>
          <a:p>
            <a:pPr>
              <a:spcBef>
                <a:spcPts val="800"/>
              </a:spcBef>
              <a:defRPr sz="1100">
                <a:solidFill>
                  <a:srgbClr val="334155"/>
                </a:solidFill>
              </a:defRPr>
            </a:pPr>
            <a:r>
              <a:t>1. Minute 1 — Multi-Tenancy &amp; RBAC:</a:t>
            </a:r>
            <a:br/>
            <a:r>
              <a:t>Switch roles between Platform Admin, HOD CSE, Faculty, and Student to demonstrate dynamic permission adaptation.</a:t>
            </a:r>
            <a:br/>
            <a:br/>
            <a:r>
              <a:t>2. Minute 2 — Document Ingestion &amp; Chunk Inspector:</a:t>
            </a:r>
            <a:br/>
            <a:r>
              <a:t>Inspect how PyMuPDF, python-docx, and TabularChunker preserve syllabus matrices, page numbers, and SHA-256 hashes.</a:t>
            </a:r>
            <a:br/>
            <a:br/>
            <a:r>
              <a:t>3. Minute 3 — Grounded Q&amp;A with Live Citations:</a:t>
            </a:r>
            <a:br/>
            <a:r>
              <a:t>Query 'passing criteria for Autonomous Exam under 2024 regulations'. Click citation chip [1] to open chunk inspector.</a:t>
            </a:r>
            <a:br/>
            <a:br/>
            <a:r>
              <a:t>4. Minute 4 — Policy Conflict Detection:</a:t>
            </a:r>
            <a:br/>
            <a:r>
              <a:t>Ask 'Compare 2020 vs 2024 regulations'. System surfaces version discrepancy warning banner and comparative table.</a:t>
            </a:r>
            <a:br/>
            <a:br/>
            <a:r>
              <a:t>5. Minute 5 — Automated Benchmark Suite:</a:t>
            </a:r>
            <a:br/>
            <a:r>
              <a:t>Navigate to Benchmarks tab. Show 100% Hit Rate and click 'Run Live Benchmark' to execute real-time assertion suite.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